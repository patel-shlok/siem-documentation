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4"/>
  </p:notesMasterIdLst>
  <p:sldIdLst>
    <p:sldId id="257" r:id="rId2"/>
    <p:sldId id="256" r:id="rId3"/>
  </p:sldIdLst>
  <p:sldSz cx="9144000" cy="5143500" type="screen16x9"/>
  <p:notesSz cx="6858000" cy="9144000"/>
  <p:embeddedFontLst>
    <p:embeddedFont>
      <p:font typeface="Google Sans" panose="020B0604020202020204" charset="0"/>
      <p:regular r:id="rId5"/>
      <p:bold r:id="rId6"/>
      <p:italic r:id="rId7"/>
      <p:boldItalic r:id="rId8"/>
    </p:embeddedFont>
    <p:embeddedFont>
      <p:font typeface="Roboto" panose="02000000000000000000" pitchFamily="2" charset="0"/>
      <p:regular r:id="rId9"/>
      <p:bold r:id="rId10"/>
      <p:italic r:id="rId11"/>
      <p:boldItalic r:id="rId1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Untitled Section" id="{CB898342-353A-487D-9B9A-53862E0F23D9}">
          <p14:sldIdLst>
            <p14:sldId id="257"/>
            <p14:sldId id="256"/>
          </p14:sldIdLst>
        </p14:section>
      </p14:sectionLst>
    </p:ex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972" y="7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4.fntdata"/><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font" Target="fonts/font3.fntdata"/><Relationship Id="rId12"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font" Target="fonts/font2.fntdata"/><Relationship Id="rId11" Type="http://schemas.openxmlformats.org/officeDocument/2006/relationships/font" Target="fonts/font7.fntdata"/><Relationship Id="rId5" Type="http://schemas.openxmlformats.org/officeDocument/2006/relationships/font" Target="fonts/font1.fntdata"/><Relationship Id="rId15" Type="http://schemas.openxmlformats.org/officeDocument/2006/relationships/theme" Target="theme/theme1.xml"/><Relationship Id="rId10" Type="http://schemas.openxmlformats.org/officeDocument/2006/relationships/font" Target="fonts/font6.fntdata"/><Relationship Id="rId4" Type="http://schemas.openxmlformats.org/officeDocument/2006/relationships/notesMaster" Target="notesMasters/notesMaster1.xml"/><Relationship Id="rId9" Type="http://schemas.openxmlformats.org/officeDocument/2006/relationships/font" Target="fonts/font5.fntdata"/><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docs.google.com/presentation/d/1ouKZ4YVI9IKrIEGEz5A-A2fwcKsLYxZRqtOT1d9D-Lc/template/preview?usp=sharing&amp;resourcekey=0-5nQZnN18beQMlTyXERtt0A" TargetMode="External"/><Relationship Id="rId2" Type="http://schemas.openxmlformats.org/officeDocument/2006/relationships/hyperlink" Target="https://docs.google.com/spreadsheets/d/10S7u42BgUq4xvT6ZmFI7VJl_93oFA-GSCYI3-T344jw/copy" TargetMode="External"/><Relationship Id="rId1" Type="http://schemas.openxmlformats.org/officeDocument/2006/relationships/slideLayout" Target="../slideLayouts/slideLayout2.xml"/><Relationship Id="rId5" Type="http://schemas.openxmlformats.org/officeDocument/2006/relationships/hyperlink" Target="https://www.wireshark.org/docs/wsug_html/" TargetMode="External"/><Relationship Id="rId4" Type="http://schemas.openxmlformats.org/officeDocument/2006/relationships/hyperlink" Target="https://www.tcpdump.org/index.html#documentation"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D986919-8625-E0CC-80D5-1BC02653F4FE}"/>
              </a:ext>
            </a:extLst>
          </p:cNvPr>
          <p:cNvSpPr>
            <a:spLocks noChangeArrowheads="1"/>
          </p:cNvSpPr>
          <p:nvPr/>
        </p:nvSpPr>
        <p:spPr bwMode="auto">
          <a:xfrm>
            <a:off x="0" y="384721"/>
            <a:ext cx="8985504" cy="480131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50" b="0" i="0" u="none" strike="noStrike" cap="none" normalizeH="0" baseline="0" dirty="0">
                <a:ln>
                  <a:noFill/>
                </a:ln>
                <a:solidFill>
                  <a:srgbClr val="0F1114"/>
                </a:solidFill>
                <a:effectLst/>
                <a:latin typeface="+mj-lt"/>
              </a:rPr>
              <a:t>Review the following scenario. Then complete the step-by-step instructions.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50" b="0" i="0" u="none" strike="noStrike" cap="none" normalizeH="0" baseline="0" dirty="0">
                <a:ln>
                  <a:noFill/>
                </a:ln>
                <a:solidFill>
                  <a:srgbClr val="0F1114"/>
                </a:solidFill>
                <a:effectLst/>
                <a:latin typeface="+mj-lt"/>
              </a:rPr>
              <a:t>In your role as a cybersecurity analyst, you have been asked to research the differences and similarities between Wireshark and </a:t>
            </a:r>
            <a:r>
              <a:rPr kumimoji="0" lang="en-US" altLang="en-US" sz="1050" b="0" i="0" u="none" strike="noStrike" cap="none" normalizeH="0" baseline="0" dirty="0" err="1">
                <a:ln>
                  <a:noFill/>
                </a:ln>
                <a:solidFill>
                  <a:srgbClr val="0F1114"/>
                </a:solidFill>
                <a:effectLst/>
                <a:latin typeface="+mj-lt"/>
              </a:rPr>
              <a:t>tcpdump</a:t>
            </a:r>
            <a:r>
              <a:rPr kumimoji="0" lang="en-US" altLang="en-US" sz="1050" b="0" i="0" u="none" strike="noStrike" cap="none" normalizeH="0" baseline="0" dirty="0">
                <a:ln>
                  <a:noFill/>
                </a:ln>
                <a:solidFill>
                  <a:srgbClr val="0F1114"/>
                </a:solidFill>
                <a:effectLst/>
                <a:latin typeface="+mj-lt"/>
              </a:rPr>
              <a:t> and create a chart that outlines your findings. </a:t>
            </a:r>
            <a:endParaRPr kumimoji="0" lang="en-US" altLang="en-US" sz="1200" b="1" i="0" u="none" strike="noStrike" cap="none" normalizeH="0" baseline="0" dirty="0">
              <a:ln>
                <a:noFill/>
              </a:ln>
              <a:solidFill>
                <a:srgbClr val="0F1114"/>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 b="0" i="0" u="none" strike="noStrike" cap="none" normalizeH="0" baseline="0" dirty="0">
                <a:ln>
                  <a:noFill/>
                </a:ln>
                <a:solidFill>
                  <a:srgbClr val="0F1114"/>
                </a:solidFill>
                <a:effectLst/>
                <a:latin typeface="+mj-lt"/>
              </a:rPr>
              <a:t>                                                                                                                                                                                                                                                                                                                                                                                                                                                                                                                                                                                                                                                                                                                                                                                                                                                                                                                                                                                                                                                                                                                                                                                                                                                                                                                                                                                                       </a:t>
            </a:r>
            <a:endParaRPr kumimoji="0" lang="en-US" altLang="en-US" sz="1050" b="0" i="0" u="none" strike="noStrike" cap="none" normalizeH="0" baseline="0" dirty="0">
              <a:ln>
                <a:noFill/>
              </a:ln>
              <a:solidFill>
                <a:srgbClr val="0F1114"/>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50" b="0" i="0" u="none" strike="noStrike" cap="none" normalizeH="0" baseline="0" dirty="0">
                <a:ln>
                  <a:noFill/>
                </a:ln>
                <a:solidFill>
                  <a:srgbClr val="0F1114"/>
                </a:solidFill>
                <a:effectLst/>
                <a:latin typeface="+mj-lt"/>
              </a:rPr>
              <a:t>Follow the instructions and answer the question to complete the activity. Then, go to the next course item to compare your work to a completed exemplar.</a:t>
            </a:r>
            <a:endParaRPr kumimoji="0" lang="en-US" altLang="en-US" sz="6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50" b="1" i="0" u="none" strike="noStrike" cap="none" normalizeH="0" baseline="0" dirty="0">
                <a:ln>
                  <a:noFill/>
                </a:ln>
                <a:solidFill>
                  <a:srgbClr val="0F1114"/>
                </a:solidFill>
                <a:effectLst/>
                <a:latin typeface="+mj-lt"/>
              </a:rPr>
              <a:t>Step 1: Access the template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50" b="0" i="0" u="none" strike="noStrike" cap="none" normalizeH="0" baseline="0" dirty="0">
                <a:ln>
                  <a:noFill/>
                </a:ln>
                <a:solidFill>
                  <a:srgbClr val="0F1114"/>
                </a:solidFill>
                <a:effectLst/>
                <a:latin typeface="+mj-lt"/>
              </a:rPr>
              <a:t>To use the template for this course item, click the link and select </a:t>
            </a:r>
            <a:r>
              <a:rPr kumimoji="0" lang="en-US" altLang="en-US" sz="1050" b="0" i="1" u="none" strike="noStrike" cap="none" normalizeH="0" baseline="0" dirty="0">
                <a:ln>
                  <a:noFill/>
                </a:ln>
                <a:solidFill>
                  <a:srgbClr val="0F1114"/>
                </a:solidFill>
                <a:effectLst/>
                <a:latin typeface="+mj-lt"/>
              </a:rPr>
              <a:t>Use Template</a:t>
            </a:r>
            <a:r>
              <a:rPr kumimoji="0" lang="en-US" altLang="en-US" sz="1050" b="0" i="0" u="none" strike="noStrike" cap="none" normalizeH="0" baseline="0" dirty="0">
                <a:ln>
                  <a:noFill/>
                </a:ln>
                <a:solidFill>
                  <a:srgbClr val="0F1114"/>
                </a:solidFill>
                <a:effectLst/>
                <a:latin typeface="+mj-lt"/>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50" b="0" i="0" u="none" strike="noStrike" cap="none" normalizeH="0" baseline="0" dirty="0">
                <a:ln>
                  <a:noFill/>
                </a:ln>
                <a:solidFill>
                  <a:srgbClr val="0F1114"/>
                </a:solidFill>
                <a:effectLst/>
                <a:latin typeface="+mj-lt"/>
              </a:rPr>
              <a:t>Link to template:</a:t>
            </a:r>
            <a:r>
              <a:rPr kumimoji="0" lang="en-US" altLang="en-US" sz="1050" b="0" i="0" u="sng" strike="noStrike" cap="none" normalizeH="0" baseline="0" dirty="0">
                <a:ln>
                  <a:noFill/>
                </a:ln>
                <a:solidFill>
                  <a:srgbClr val="0056D2"/>
                </a:solidFill>
                <a:effectLst/>
                <a:latin typeface="+mj-lt"/>
                <a:hlinkClick r:id="rId2"/>
              </a:rPr>
              <a:t> </a:t>
            </a:r>
            <a:r>
              <a:rPr kumimoji="0" lang="en-US" altLang="en-US" sz="1050" b="0" i="0" u="sng" strike="noStrike" cap="none" normalizeH="0" baseline="0" dirty="0">
                <a:ln>
                  <a:noFill/>
                </a:ln>
                <a:solidFill>
                  <a:srgbClr val="0056D2"/>
                </a:solidFill>
                <a:effectLst/>
                <a:latin typeface="+mj-lt"/>
                <a:hlinkClick r:id="rId3"/>
              </a:rPr>
              <a:t>Diagram template</a:t>
            </a:r>
            <a:endParaRPr kumimoji="0" lang="en-US" altLang="en-US" sz="1050" b="0" i="0" u="none" strike="noStrike" cap="none" normalizeH="0" baseline="0" dirty="0">
              <a:ln>
                <a:noFill/>
              </a:ln>
              <a:solidFill>
                <a:srgbClr val="0F1114"/>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50" b="0" i="0" u="none" strike="noStrike" cap="none" normalizeH="0" baseline="0" dirty="0">
                <a:ln>
                  <a:noFill/>
                </a:ln>
                <a:solidFill>
                  <a:srgbClr val="0F1114"/>
                </a:solidFill>
                <a:effectLst/>
                <a:latin typeface="+mj-lt"/>
              </a:rPr>
              <a:t>OR</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50" b="0" i="0" u="none" strike="noStrike" cap="none" normalizeH="0" baseline="0" dirty="0">
                <a:ln>
                  <a:noFill/>
                </a:ln>
                <a:solidFill>
                  <a:srgbClr val="0F1114"/>
                </a:solidFill>
                <a:effectLst/>
                <a:latin typeface="+mj-lt"/>
              </a:rPr>
              <a:t>If you don’t have a Google account, you can download the template directly from the following attachment.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50" b="0" i="0" u="none" strike="noStrike" cap="none" normalizeH="0" baseline="0" dirty="0">
                <a:ln>
                  <a:noFill/>
                </a:ln>
                <a:solidFill>
                  <a:srgbClr val="0F1114"/>
                </a:solidFill>
                <a:effectLst/>
                <a:latin typeface="+mj-lt"/>
              </a:rPr>
              <a:t>To begin, conduct online research to learn more about </a:t>
            </a:r>
            <a:r>
              <a:rPr kumimoji="0" lang="en-US" altLang="en-US" sz="1050" b="0" i="0" u="none" strike="noStrike" cap="none" normalizeH="0" baseline="0" dirty="0" err="1">
                <a:ln>
                  <a:noFill/>
                </a:ln>
                <a:solidFill>
                  <a:srgbClr val="0F1114"/>
                </a:solidFill>
                <a:effectLst/>
                <a:latin typeface="+mj-lt"/>
              </a:rPr>
              <a:t>tcpdump</a:t>
            </a:r>
            <a:r>
              <a:rPr kumimoji="0" lang="en-US" altLang="en-US" sz="1050" b="0" i="0" u="none" strike="noStrike" cap="none" normalizeH="0" baseline="0" dirty="0">
                <a:ln>
                  <a:noFill/>
                </a:ln>
                <a:solidFill>
                  <a:srgbClr val="0F1114"/>
                </a:solidFill>
                <a:effectLst/>
                <a:latin typeface="+mj-lt"/>
              </a:rPr>
              <a:t> and Wireshark. You can begin by using the official Wireshark documentation and </a:t>
            </a:r>
            <a:r>
              <a:rPr kumimoji="0" lang="en-US" altLang="en-US" sz="1050" b="0" i="0" u="none" strike="noStrike" cap="none" normalizeH="0" baseline="0" dirty="0" err="1">
                <a:ln>
                  <a:noFill/>
                </a:ln>
                <a:solidFill>
                  <a:srgbClr val="0F1114"/>
                </a:solidFill>
                <a:effectLst/>
                <a:latin typeface="+mj-lt"/>
              </a:rPr>
              <a:t>tcpdump</a:t>
            </a:r>
            <a:r>
              <a:rPr kumimoji="0" lang="en-US" altLang="en-US" sz="1050" b="0" i="0" u="none" strike="noStrike" cap="none" normalizeH="0" baseline="0" dirty="0">
                <a:ln>
                  <a:noFill/>
                </a:ln>
                <a:solidFill>
                  <a:srgbClr val="0F1114"/>
                </a:solidFill>
                <a:effectLst/>
                <a:latin typeface="+mj-lt"/>
              </a:rPr>
              <a:t> documentation: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0" i="0" u="sng" strike="noStrike" cap="none" normalizeH="0" baseline="0" dirty="0" err="1">
                <a:ln>
                  <a:noFill/>
                </a:ln>
                <a:solidFill>
                  <a:srgbClr val="0056D2"/>
                </a:solidFill>
                <a:effectLst/>
                <a:latin typeface="+mj-lt"/>
                <a:hlinkClick r:id="rId4"/>
              </a:rPr>
              <a:t>tcpdump</a:t>
            </a:r>
            <a:r>
              <a:rPr kumimoji="0" lang="en-US" altLang="en-US" sz="1050" b="0" i="0" u="sng" strike="noStrike" cap="none" normalizeH="0" baseline="0" dirty="0">
                <a:ln>
                  <a:noFill/>
                </a:ln>
                <a:solidFill>
                  <a:srgbClr val="0056D2"/>
                </a:solidFill>
                <a:effectLst/>
                <a:latin typeface="+mj-lt"/>
                <a:hlinkClick r:id="rId4"/>
              </a:rPr>
              <a:t> - Resources and documentation</a:t>
            </a:r>
            <a:endParaRPr kumimoji="0" lang="en-US" altLang="en-US" sz="1050" b="0" i="0" u="none" strike="noStrike" cap="none" normalizeH="0" baseline="0" dirty="0">
              <a:ln>
                <a:noFill/>
              </a:ln>
              <a:solidFill>
                <a:srgbClr val="0F1114"/>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0" i="0" u="sng" strike="noStrike" cap="none" normalizeH="0" baseline="0" dirty="0">
                <a:ln>
                  <a:noFill/>
                </a:ln>
                <a:solidFill>
                  <a:srgbClr val="0056D2"/>
                </a:solidFill>
                <a:effectLst/>
                <a:latin typeface="+mj-lt"/>
                <a:hlinkClick r:id="rId5"/>
              </a:rPr>
              <a:t>Wireshark - Official user guide</a:t>
            </a:r>
            <a:endParaRPr kumimoji="0" lang="en-US" altLang="en-US" sz="1050" b="0" i="0" u="none" strike="noStrike" cap="none" normalizeH="0" baseline="0" dirty="0">
              <a:ln>
                <a:noFill/>
              </a:ln>
              <a:solidFill>
                <a:srgbClr val="0F1114"/>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50" b="0" i="0" u="none" strike="noStrike" cap="none" normalizeH="0" baseline="0" dirty="0">
                <a:ln>
                  <a:noFill/>
                </a:ln>
                <a:solidFill>
                  <a:srgbClr val="0F1114"/>
                </a:solidFill>
                <a:effectLst/>
                <a:latin typeface="+mj-lt"/>
              </a:rPr>
              <a:t>You can also perform an internet search to find resources that explain how these tools work. Try searching for information using these terms: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0" i="1" u="none" strike="noStrike" cap="none" normalizeH="0" baseline="0" dirty="0">
                <a:ln>
                  <a:noFill/>
                </a:ln>
                <a:solidFill>
                  <a:srgbClr val="0F1114"/>
                </a:solidFill>
                <a:effectLst/>
                <a:latin typeface="+mj-lt"/>
              </a:rPr>
              <a:t>Wireshark features and functionalities</a:t>
            </a:r>
            <a:endParaRPr kumimoji="0" lang="en-US" altLang="en-US" sz="1050" b="0" i="0" u="none" strike="noStrike" cap="none" normalizeH="0" baseline="0" dirty="0">
              <a:ln>
                <a:noFill/>
              </a:ln>
              <a:solidFill>
                <a:srgbClr val="0F1114"/>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0" i="1" u="none" strike="noStrike" cap="none" normalizeH="0" baseline="0" dirty="0" err="1">
                <a:ln>
                  <a:noFill/>
                </a:ln>
                <a:solidFill>
                  <a:srgbClr val="0F1114"/>
                </a:solidFill>
                <a:effectLst/>
                <a:latin typeface="+mj-lt"/>
              </a:rPr>
              <a:t>tcpdump</a:t>
            </a:r>
            <a:r>
              <a:rPr kumimoji="0" lang="en-US" altLang="en-US" sz="1050" b="0" i="1" u="none" strike="noStrike" cap="none" normalizeH="0" baseline="0" dirty="0">
                <a:ln>
                  <a:noFill/>
                </a:ln>
                <a:solidFill>
                  <a:srgbClr val="0F1114"/>
                </a:solidFill>
                <a:effectLst/>
                <a:latin typeface="+mj-lt"/>
              </a:rPr>
              <a:t> features and functionalities</a:t>
            </a:r>
            <a:endParaRPr kumimoji="0" lang="en-US" altLang="en-US" sz="1050" b="0" i="0" u="none" strike="noStrike" cap="none" normalizeH="0" baseline="0" dirty="0">
              <a:ln>
                <a:noFill/>
              </a:ln>
              <a:solidFill>
                <a:srgbClr val="0F1114"/>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0" i="1" u="none" strike="noStrike" cap="none" normalizeH="0" baseline="0" dirty="0">
                <a:ln>
                  <a:noFill/>
                </a:ln>
                <a:solidFill>
                  <a:srgbClr val="0F1114"/>
                </a:solidFill>
                <a:effectLst/>
                <a:latin typeface="+mj-lt"/>
              </a:rPr>
              <a:t>comparison between </a:t>
            </a:r>
            <a:r>
              <a:rPr kumimoji="0" lang="en-US" altLang="en-US" sz="1050" b="0" i="1" u="none" strike="noStrike" cap="none" normalizeH="0" baseline="0" dirty="0" err="1">
                <a:ln>
                  <a:noFill/>
                </a:ln>
                <a:solidFill>
                  <a:srgbClr val="0F1114"/>
                </a:solidFill>
                <a:effectLst/>
                <a:latin typeface="+mj-lt"/>
              </a:rPr>
              <a:t>tcpdump</a:t>
            </a:r>
            <a:r>
              <a:rPr kumimoji="0" lang="en-US" altLang="en-US" sz="1050" b="0" i="1" u="none" strike="noStrike" cap="none" normalizeH="0" baseline="0" dirty="0">
                <a:ln>
                  <a:noFill/>
                </a:ln>
                <a:solidFill>
                  <a:srgbClr val="0F1114"/>
                </a:solidFill>
                <a:effectLst/>
                <a:latin typeface="+mj-lt"/>
              </a:rPr>
              <a:t> and Wireshark</a:t>
            </a:r>
            <a:endParaRPr kumimoji="0" lang="en-US" altLang="en-US" sz="1050" b="0" i="0" u="none" strike="noStrike" cap="none" normalizeH="0" baseline="0" dirty="0">
              <a:ln>
                <a:noFill/>
              </a:ln>
              <a:solidFill>
                <a:srgbClr val="0F1114"/>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50" b="0" i="0" u="none" strike="noStrike" cap="none" normalizeH="0" baseline="0" dirty="0">
                <a:ln>
                  <a:noFill/>
                </a:ln>
                <a:solidFill>
                  <a:srgbClr val="0F1114"/>
                </a:solidFill>
                <a:effectLst/>
                <a:latin typeface="+mj-lt"/>
              </a:rPr>
              <a:t>Be sure to critically evaluate the search results and select reliable and authoritative sources such as official documentation, reputable cybersecurity websites, or technical forums that provide accurate and factual information about the tools.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50" b="0" i="0" u="none" strike="noStrike" cap="none" normalizeH="0" baseline="0" dirty="0">
                <a:ln>
                  <a:noFill/>
                </a:ln>
                <a:solidFill>
                  <a:srgbClr val="0F1114"/>
                </a:solidFill>
                <a:effectLst/>
                <a:latin typeface="+mj-lt"/>
              </a:rPr>
              <a:t>Explore these resources to gather information on </a:t>
            </a:r>
            <a:r>
              <a:rPr kumimoji="0" lang="en-US" altLang="en-US" sz="1050" b="0" i="0" u="none" strike="noStrike" cap="none" normalizeH="0" baseline="0" dirty="0" err="1">
                <a:ln>
                  <a:noFill/>
                </a:ln>
                <a:solidFill>
                  <a:srgbClr val="0F1114"/>
                </a:solidFill>
                <a:effectLst/>
                <a:latin typeface="+mj-lt"/>
              </a:rPr>
              <a:t>tcpdump</a:t>
            </a:r>
            <a:r>
              <a:rPr kumimoji="0" lang="en-US" altLang="en-US" sz="1050" b="0" i="0" u="none" strike="noStrike" cap="none" normalizeH="0" baseline="0" dirty="0">
                <a:ln>
                  <a:noFill/>
                </a:ln>
                <a:solidFill>
                  <a:srgbClr val="0F1114"/>
                </a:solidFill>
                <a:effectLst/>
                <a:latin typeface="+mj-lt"/>
              </a:rPr>
              <a:t> and Wireshark and focus on understanding the different features and functionalities that each tool has.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50" b="0" i="0" u="none" strike="noStrike" cap="none" normalizeH="0" baseline="0" dirty="0">
                <a:ln>
                  <a:noFill/>
                </a:ln>
                <a:solidFill>
                  <a:srgbClr val="0F1114"/>
                </a:solidFill>
                <a:effectLst/>
                <a:latin typeface="+mj-lt"/>
              </a:rPr>
              <a:t>Consider these questions to help you compare the two tools: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0" i="0" u="none" strike="noStrike" cap="none" normalizeH="0" baseline="0" dirty="0">
                <a:ln>
                  <a:noFill/>
                </a:ln>
                <a:solidFill>
                  <a:srgbClr val="0F1114"/>
                </a:solidFill>
                <a:effectLst/>
                <a:latin typeface="+mj-lt"/>
              </a:rPr>
              <a:t>What software or equipment is required to access and use the tool? Is the tool open-source or proprietary?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0" i="0" u="none" strike="noStrike" cap="none" normalizeH="0" baseline="0" dirty="0">
                <a:ln>
                  <a:noFill/>
                </a:ln>
                <a:solidFill>
                  <a:srgbClr val="0F1114"/>
                </a:solidFill>
                <a:effectLst/>
                <a:latin typeface="+mj-lt"/>
              </a:rPr>
              <a:t>What type of user interface or layout does the tool use?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0" i="0" u="none" strike="noStrike" cap="none" normalizeH="0" baseline="0" dirty="0">
                <a:ln>
                  <a:noFill/>
                </a:ln>
                <a:solidFill>
                  <a:srgbClr val="0F1114"/>
                </a:solidFill>
                <a:effectLst/>
                <a:latin typeface="+mj-lt"/>
              </a:rPr>
              <a:t>How do security analysts typically use the tool? What are the recommended usage scenarios for each tool?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0" i="0" u="none" strike="noStrike" cap="none" normalizeH="0" baseline="0" dirty="0">
                <a:ln>
                  <a:noFill/>
                </a:ln>
                <a:solidFill>
                  <a:srgbClr val="0F1114"/>
                </a:solidFill>
                <a:effectLst/>
                <a:latin typeface="+mj-lt"/>
              </a:rPr>
              <a:t>How does the tool handle capturing, analyzing, and filtering network traffic?</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0" i="0" u="none" strike="noStrike" cap="none" normalizeH="0" baseline="0" dirty="0">
                <a:ln>
                  <a:noFill/>
                </a:ln>
                <a:solidFill>
                  <a:srgbClr val="0F1114"/>
                </a:solidFill>
                <a:effectLst/>
                <a:latin typeface="+mj-lt"/>
              </a:rPr>
              <a:t>Are there any limitations or considerations for using this tool?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mj-lt"/>
            </a:endParaRPr>
          </a:p>
        </p:txBody>
      </p:sp>
    </p:spTree>
    <p:extLst>
      <p:ext uri="{BB962C8B-B14F-4D97-AF65-F5344CB8AC3E}">
        <p14:creationId xmlns:p14="http://schemas.microsoft.com/office/powerpoint/2010/main" val="41366787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p:nvPr/>
        </p:nvSpPr>
        <p:spPr>
          <a:xfrm>
            <a:off x="3744909" y="70550"/>
            <a:ext cx="5109300" cy="5109300"/>
          </a:xfrm>
          <a:prstGeom prst="ellipse">
            <a:avLst/>
          </a:prstGeom>
          <a:solidFill>
            <a:srgbClr val="E6B8AF">
              <a:alpha val="38430"/>
            </a:srgbClr>
          </a:solidFill>
          <a:ln w="28575" cap="flat" cmpd="sng">
            <a:solidFill>
              <a:srgbClr val="EA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13"/>
          <p:cNvSpPr/>
          <p:nvPr/>
        </p:nvSpPr>
        <p:spPr>
          <a:xfrm>
            <a:off x="116816" y="70594"/>
            <a:ext cx="5109253" cy="5109253"/>
          </a:xfrm>
          <a:prstGeom prst="ellipse">
            <a:avLst/>
          </a:prstGeom>
          <a:solidFill>
            <a:srgbClr val="DEE7F2">
              <a:alpha val="64709"/>
            </a:srgbClr>
          </a:solidFill>
          <a:ln w="28575" cap="flat" cmpd="sng">
            <a:solidFill>
              <a:srgbClr val="A1C3F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13"/>
          <p:cNvSpPr txBox="1"/>
          <p:nvPr/>
        </p:nvSpPr>
        <p:spPr>
          <a:xfrm>
            <a:off x="5637600" y="589700"/>
            <a:ext cx="1323900" cy="2889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1700" b="1">
                <a:solidFill>
                  <a:schemeClr val="dk1"/>
                </a:solidFill>
                <a:latin typeface="Google Sans"/>
                <a:ea typeface="Google Sans"/>
                <a:cs typeface="Google Sans"/>
                <a:sym typeface="Google Sans"/>
              </a:rPr>
              <a:t>tcpdump</a:t>
            </a:r>
            <a:endParaRPr sz="1700" b="1">
              <a:solidFill>
                <a:schemeClr val="dk1"/>
              </a:solidFill>
              <a:latin typeface="Google Sans"/>
              <a:ea typeface="Google Sans"/>
              <a:cs typeface="Google Sans"/>
              <a:sym typeface="Google Sans"/>
            </a:endParaRPr>
          </a:p>
        </p:txBody>
      </p:sp>
      <p:sp>
        <p:nvSpPr>
          <p:cNvPr id="57" name="Google Shape;57;p13"/>
          <p:cNvSpPr txBox="1"/>
          <p:nvPr/>
        </p:nvSpPr>
        <p:spPr>
          <a:xfrm>
            <a:off x="3940208" y="1388024"/>
            <a:ext cx="1120200" cy="8259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b="1">
                <a:solidFill>
                  <a:schemeClr val="dk1"/>
                </a:solidFill>
                <a:latin typeface="Roboto"/>
                <a:ea typeface="Roboto"/>
                <a:cs typeface="Roboto"/>
                <a:sym typeface="Roboto"/>
              </a:rPr>
              <a:t>Similarities</a:t>
            </a:r>
            <a:endParaRPr b="1">
              <a:solidFill>
                <a:schemeClr val="dk1"/>
              </a:solidFill>
              <a:latin typeface="Roboto"/>
              <a:ea typeface="Roboto"/>
              <a:cs typeface="Roboto"/>
              <a:sym typeface="Roboto"/>
            </a:endParaRPr>
          </a:p>
          <a:p>
            <a:pPr marL="0" lvl="0" indent="0" algn="l" rtl="0">
              <a:lnSpc>
                <a:spcPct val="115000"/>
              </a:lnSpc>
              <a:spcBef>
                <a:spcPts val="0"/>
              </a:spcBef>
              <a:spcAft>
                <a:spcPts val="0"/>
              </a:spcAft>
              <a:buNone/>
            </a:pPr>
            <a:endParaRPr sz="1100">
              <a:solidFill>
                <a:srgbClr val="FFFFFF"/>
              </a:solidFill>
              <a:latin typeface="Roboto"/>
              <a:ea typeface="Roboto"/>
              <a:cs typeface="Roboto"/>
              <a:sym typeface="Roboto"/>
            </a:endParaRPr>
          </a:p>
        </p:txBody>
      </p:sp>
      <p:sp>
        <p:nvSpPr>
          <p:cNvPr id="58" name="Google Shape;58;p13"/>
          <p:cNvSpPr txBox="1"/>
          <p:nvPr/>
        </p:nvSpPr>
        <p:spPr>
          <a:xfrm>
            <a:off x="1539766" y="1574345"/>
            <a:ext cx="2777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Roboto"/>
              <a:ea typeface="Roboto"/>
              <a:cs typeface="Roboto"/>
              <a:sym typeface="Roboto"/>
            </a:endParaRPr>
          </a:p>
        </p:txBody>
      </p:sp>
      <p:sp>
        <p:nvSpPr>
          <p:cNvPr id="59" name="Google Shape;59;p13"/>
          <p:cNvSpPr txBox="1"/>
          <p:nvPr/>
        </p:nvSpPr>
        <p:spPr>
          <a:xfrm>
            <a:off x="393625" y="1388025"/>
            <a:ext cx="3269400" cy="1305300"/>
          </a:xfrm>
          <a:prstGeom prst="rect">
            <a:avLst/>
          </a:prstGeom>
          <a:noFill/>
          <a:ln>
            <a:noFill/>
          </a:ln>
        </p:spPr>
        <p:txBody>
          <a:bodyPr spcFirstLastPara="1" wrap="square" lIns="91425" tIns="91425" rIns="91425" bIns="91425" anchor="t" anchorCtr="0">
            <a:spAutoFit/>
          </a:bodyPr>
          <a:lstStyle/>
          <a:p>
            <a:pPr marL="457200" lvl="0" indent="-311150" algn="l" rtl="0">
              <a:lnSpc>
                <a:spcPct val="115000"/>
              </a:lnSpc>
              <a:spcBef>
                <a:spcPts val="0"/>
              </a:spcBef>
              <a:spcAft>
                <a:spcPts val="0"/>
              </a:spcAft>
              <a:buClr>
                <a:schemeClr val="dk1"/>
              </a:buClr>
              <a:buSzPts val="1300"/>
              <a:buChar char="●"/>
            </a:pPr>
            <a:r>
              <a:rPr lang="en" sz="1300">
                <a:solidFill>
                  <a:schemeClr val="dk1"/>
                </a:solidFill>
              </a:rPr>
              <a:t>Uses a graphical user interface (GUI)</a:t>
            </a:r>
            <a:endParaRPr sz="1300">
              <a:solidFill>
                <a:schemeClr val="dk1"/>
              </a:solidFill>
            </a:endParaRPr>
          </a:p>
          <a:p>
            <a:pPr marL="457200" lvl="0" indent="-311150" algn="l" rtl="0">
              <a:lnSpc>
                <a:spcPct val="115000"/>
              </a:lnSpc>
              <a:spcBef>
                <a:spcPts val="0"/>
              </a:spcBef>
              <a:spcAft>
                <a:spcPts val="0"/>
              </a:spcAft>
              <a:buClr>
                <a:schemeClr val="dk1"/>
              </a:buClr>
              <a:buSzPts val="1300"/>
              <a:buChar char="●"/>
            </a:pPr>
            <a:r>
              <a:rPr lang="en" sz="1300">
                <a:solidFill>
                  <a:schemeClr val="dk1"/>
                </a:solidFill>
              </a:rPr>
              <a:t>Offers more features such as advanced filtering and colorizing</a:t>
            </a:r>
            <a:endParaRPr sz="1300">
              <a:solidFill>
                <a:schemeClr val="dk1"/>
              </a:solidFill>
            </a:endParaRPr>
          </a:p>
          <a:p>
            <a:pPr marL="457200" lvl="0" indent="-311150" algn="l" rtl="0">
              <a:lnSpc>
                <a:spcPct val="115000"/>
              </a:lnSpc>
              <a:spcBef>
                <a:spcPts val="0"/>
              </a:spcBef>
              <a:spcAft>
                <a:spcPts val="0"/>
              </a:spcAft>
              <a:buClr>
                <a:schemeClr val="dk1"/>
              </a:buClr>
              <a:buSzPts val="1300"/>
              <a:buChar char="●"/>
            </a:pPr>
            <a:r>
              <a:rPr lang="en" sz="1300">
                <a:solidFill>
                  <a:schemeClr val="dk1"/>
                </a:solidFill>
              </a:rPr>
              <a:t>Requires more system resources</a:t>
            </a:r>
            <a:endParaRPr sz="1300">
              <a:solidFill>
                <a:schemeClr val="dk1"/>
              </a:solidFill>
              <a:latin typeface="Roboto"/>
              <a:ea typeface="Roboto"/>
              <a:cs typeface="Roboto"/>
              <a:sym typeface="Roboto"/>
            </a:endParaRPr>
          </a:p>
        </p:txBody>
      </p:sp>
      <p:sp>
        <p:nvSpPr>
          <p:cNvPr id="60" name="Google Shape;60;p13"/>
          <p:cNvSpPr txBox="1"/>
          <p:nvPr/>
        </p:nvSpPr>
        <p:spPr>
          <a:xfrm>
            <a:off x="4998288" y="1149752"/>
            <a:ext cx="2777700" cy="1075200"/>
          </a:xfrm>
          <a:prstGeom prst="rect">
            <a:avLst/>
          </a:prstGeom>
          <a:noFill/>
          <a:ln>
            <a:noFill/>
          </a:ln>
        </p:spPr>
        <p:txBody>
          <a:bodyPr spcFirstLastPara="1" wrap="square" lIns="91425" tIns="91425" rIns="91425" bIns="91425" anchor="t" anchorCtr="0">
            <a:spAutoFit/>
          </a:bodyPr>
          <a:lstStyle/>
          <a:p>
            <a:pPr marL="457200" lvl="0" indent="-311150" algn="l" rtl="0">
              <a:lnSpc>
                <a:spcPct val="115000"/>
              </a:lnSpc>
              <a:spcBef>
                <a:spcPts val="0"/>
              </a:spcBef>
              <a:spcAft>
                <a:spcPts val="0"/>
              </a:spcAft>
              <a:buClr>
                <a:schemeClr val="dk1"/>
              </a:buClr>
              <a:buSzPts val="1300"/>
              <a:buChar char="●"/>
            </a:pPr>
            <a:r>
              <a:rPr lang="en" sz="1300">
                <a:solidFill>
                  <a:schemeClr val="dk1"/>
                </a:solidFill>
                <a:latin typeface="Roboto"/>
                <a:ea typeface="Roboto"/>
                <a:cs typeface="Roboto"/>
                <a:sym typeface="Roboto"/>
              </a:rPr>
              <a:t>Uses a command-line interface (CLI) </a:t>
            </a:r>
            <a:endParaRPr sz="1300">
              <a:solidFill>
                <a:schemeClr val="dk1"/>
              </a:solidFill>
              <a:latin typeface="Roboto"/>
              <a:ea typeface="Roboto"/>
              <a:cs typeface="Roboto"/>
              <a:sym typeface="Roboto"/>
            </a:endParaRPr>
          </a:p>
          <a:p>
            <a:pPr marL="457200" lvl="0" indent="-311150" algn="l" rtl="0">
              <a:lnSpc>
                <a:spcPct val="115000"/>
              </a:lnSpc>
              <a:spcBef>
                <a:spcPts val="0"/>
              </a:spcBef>
              <a:spcAft>
                <a:spcPts val="0"/>
              </a:spcAft>
              <a:buClr>
                <a:schemeClr val="dk1"/>
              </a:buClr>
              <a:buSzPts val="1300"/>
              <a:buChar char="●"/>
            </a:pPr>
            <a:r>
              <a:rPr lang="en" sz="1300">
                <a:solidFill>
                  <a:schemeClr val="dk1"/>
                </a:solidFill>
                <a:latin typeface="Roboto"/>
                <a:ea typeface="Roboto"/>
                <a:cs typeface="Roboto"/>
                <a:sym typeface="Roboto"/>
              </a:rPr>
              <a:t>Is lightweight and uses fewer system resources</a:t>
            </a:r>
            <a:endParaRPr sz="1300">
              <a:solidFill>
                <a:schemeClr val="dk1"/>
              </a:solidFill>
              <a:latin typeface="Roboto"/>
              <a:ea typeface="Roboto"/>
              <a:cs typeface="Roboto"/>
              <a:sym typeface="Roboto"/>
            </a:endParaRPr>
          </a:p>
        </p:txBody>
      </p:sp>
      <p:sp>
        <p:nvSpPr>
          <p:cNvPr id="61" name="Google Shape;61;p13"/>
          <p:cNvSpPr txBox="1"/>
          <p:nvPr/>
        </p:nvSpPr>
        <p:spPr>
          <a:xfrm>
            <a:off x="3875650" y="1836375"/>
            <a:ext cx="1426500" cy="2068800"/>
          </a:xfrm>
          <a:prstGeom prst="rect">
            <a:avLst/>
          </a:prstGeom>
          <a:noFill/>
          <a:ln>
            <a:noFill/>
          </a:ln>
        </p:spPr>
        <p:txBody>
          <a:bodyPr spcFirstLastPara="1" wrap="square" lIns="91425" tIns="91425" rIns="91425" bIns="91425" anchor="t" anchorCtr="0">
            <a:spAutoFit/>
          </a:bodyPr>
          <a:lstStyle/>
          <a:p>
            <a:pPr marL="274320" lvl="0" indent="-304800" algn="l" rtl="0">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Network protocol analyzers</a:t>
            </a:r>
            <a:endParaRPr sz="1200">
              <a:solidFill>
                <a:schemeClr val="dk1"/>
              </a:solidFill>
              <a:latin typeface="Roboto"/>
              <a:ea typeface="Roboto"/>
              <a:cs typeface="Roboto"/>
              <a:sym typeface="Roboto"/>
            </a:endParaRPr>
          </a:p>
          <a:p>
            <a:pPr marL="274320" lvl="0" indent="-304800" algn="l" rtl="0">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Open-source and available for free </a:t>
            </a:r>
            <a:endParaRPr sz="1200">
              <a:solidFill>
                <a:schemeClr val="dk1"/>
              </a:solidFill>
              <a:latin typeface="Roboto"/>
              <a:ea typeface="Roboto"/>
              <a:cs typeface="Roboto"/>
              <a:sym typeface="Roboto"/>
            </a:endParaRPr>
          </a:p>
          <a:p>
            <a:pPr marL="274320" lvl="0" indent="-304800" algn="l" rtl="0">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Filter for a specific protocol</a:t>
            </a:r>
            <a:endParaRPr sz="1200">
              <a:solidFill>
                <a:schemeClr val="dk1"/>
              </a:solidFill>
              <a:latin typeface="Roboto"/>
              <a:ea typeface="Roboto"/>
              <a:cs typeface="Roboto"/>
              <a:sym typeface="Roboto"/>
            </a:endParaRPr>
          </a:p>
        </p:txBody>
      </p:sp>
      <p:sp>
        <p:nvSpPr>
          <p:cNvPr id="62" name="Google Shape;62;p13"/>
          <p:cNvSpPr txBox="1"/>
          <p:nvPr/>
        </p:nvSpPr>
        <p:spPr>
          <a:xfrm>
            <a:off x="2009500" y="589700"/>
            <a:ext cx="1323900" cy="2889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1700" b="1">
                <a:solidFill>
                  <a:schemeClr val="dk1"/>
                </a:solidFill>
                <a:latin typeface="Google Sans"/>
                <a:ea typeface="Google Sans"/>
                <a:cs typeface="Google Sans"/>
                <a:sym typeface="Google Sans"/>
              </a:rPr>
              <a:t>Wireshark</a:t>
            </a:r>
            <a:endParaRPr sz="1700" b="1">
              <a:solidFill>
                <a:schemeClr val="dk1"/>
              </a:solidFill>
              <a:latin typeface="Google Sans"/>
              <a:ea typeface="Google Sans"/>
              <a:cs typeface="Google Sans"/>
              <a:sym typeface="Google Sans"/>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394</Words>
  <Application>Microsoft Office PowerPoint</Application>
  <PresentationFormat>On-screen Show (16:9)</PresentationFormat>
  <Paragraphs>35</Paragraphs>
  <Slides>2</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Google Sans</vt:lpstr>
      <vt:lpstr>Roboto</vt:lpstr>
      <vt:lpstr>Arial</vt:lpstr>
      <vt:lpstr>Simple Light</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Shlok Patel</cp:lastModifiedBy>
  <cp:revision>2</cp:revision>
  <dcterms:modified xsi:type="dcterms:W3CDTF">2026-04-07T18:43:22Z</dcterms:modified>
</cp:coreProperties>
</file>