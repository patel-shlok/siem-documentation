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
  </p:notesMasterIdLst>
  <p:sldIdLst>
    <p:sldId id="256" r:id="rId2"/>
    <p:sldId id="257" r:id="rId3"/>
  </p:sldIdLst>
  <p:sldSz cx="9144000" cy="5143500" type="screen16x9"/>
  <p:notesSz cx="6858000" cy="9144000"/>
  <p:embeddedFontLst>
    <p:embeddedFont>
      <p:font typeface="Google Sans" panose="020B0604020202020204" charset="0"/>
      <p:regular r:id="rId5"/>
      <p:bold r:id="rId6"/>
      <p:italic r:id="rId7"/>
      <p:boldItalic r:id="rId8"/>
    </p:embeddedFont>
    <p:embeddedFont>
      <p:font typeface="Roboto" panose="02000000000000000000" pitchFamily="2" charset="0"/>
      <p:regular r:id="rId9"/>
      <p:bold r:id="rId10"/>
      <p:italic r:id="rId11"/>
      <p:boldItalic r:id="rId1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972" y="6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font" Target="fonts/font3.fntdata"/><Relationship Id="rId12"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5" Type="http://schemas.openxmlformats.org/officeDocument/2006/relationships/font" Target="fonts/font1.fntdata"/><Relationship Id="rId15" Type="http://schemas.openxmlformats.org/officeDocument/2006/relationships/theme" Target="theme/theme1.xml"/><Relationship Id="rId10" Type="http://schemas.openxmlformats.org/officeDocument/2006/relationships/font" Target="fonts/font6.fntdata"/><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9419f719b3_0_3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9419f719b3_0_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e118e9c685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e118e9c68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body" idx="1"/>
          </p:nvPr>
        </p:nvSpPr>
        <p:spPr>
          <a:xfrm>
            <a:off x="311700" y="419550"/>
            <a:ext cx="7986000" cy="9285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605"/>
              <a:buNone/>
            </a:pPr>
            <a:r>
              <a:rPr lang="en" sz="1790" b="1">
                <a:solidFill>
                  <a:schemeClr val="dk1"/>
                </a:solidFill>
                <a:latin typeface="Google Sans"/>
                <a:ea typeface="Google Sans"/>
                <a:cs typeface="Google Sans"/>
                <a:sym typeface="Google Sans"/>
              </a:rPr>
              <a:t>Has this file hash been reported as malicious? Explain why or why not.</a:t>
            </a:r>
            <a:endParaRPr sz="1790" b="1">
              <a:solidFill>
                <a:schemeClr val="dk1"/>
              </a:solidFill>
              <a:latin typeface="Google Sans"/>
              <a:ea typeface="Google Sans"/>
              <a:cs typeface="Google Sans"/>
              <a:sym typeface="Google Sans"/>
            </a:endParaRPr>
          </a:p>
          <a:p>
            <a:pPr marL="0" lvl="0" indent="0" algn="l" rtl="0">
              <a:lnSpc>
                <a:spcPct val="95000"/>
              </a:lnSpc>
              <a:spcBef>
                <a:spcPts val="1200"/>
              </a:spcBef>
              <a:spcAft>
                <a:spcPts val="0"/>
              </a:spcAft>
              <a:buSzPts val="605"/>
              <a:buNone/>
            </a:pPr>
            <a:endParaRPr sz="1790" b="1">
              <a:solidFill>
                <a:schemeClr val="dk1"/>
              </a:solidFill>
              <a:latin typeface="Google Sans"/>
              <a:ea typeface="Google Sans"/>
              <a:cs typeface="Google Sans"/>
              <a:sym typeface="Google Sans"/>
            </a:endParaRPr>
          </a:p>
          <a:p>
            <a:pPr marL="0" lvl="0" indent="0" algn="l" rtl="0">
              <a:lnSpc>
                <a:spcPct val="95000"/>
              </a:lnSpc>
              <a:spcBef>
                <a:spcPts val="1200"/>
              </a:spcBef>
              <a:spcAft>
                <a:spcPts val="1200"/>
              </a:spcAft>
              <a:buSzPts val="605"/>
              <a:buNone/>
            </a:pPr>
            <a:endParaRPr sz="1790" b="1">
              <a:solidFill>
                <a:schemeClr val="dk1"/>
              </a:solidFill>
              <a:latin typeface="Google Sans"/>
              <a:ea typeface="Google Sans"/>
              <a:cs typeface="Google Sans"/>
              <a:sym typeface="Google Sans"/>
            </a:endParaRPr>
          </a:p>
        </p:txBody>
      </p:sp>
      <p:sp>
        <p:nvSpPr>
          <p:cNvPr id="55" name="Google Shape;55;p13"/>
          <p:cNvSpPr txBox="1"/>
          <p:nvPr/>
        </p:nvSpPr>
        <p:spPr>
          <a:xfrm>
            <a:off x="311700" y="684961"/>
            <a:ext cx="75387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chemeClr val="dk1"/>
                </a:solidFill>
                <a:latin typeface="Google Sans"/>
                <a:ea typeface="Google Sans"/>
                <a:cs typeface="Google Sans"/>
                <a:sym typeface="Google Sans"/>
              </a:rPr>
              <a:t>The file hash has been reported as malicious by over 50 vendors. Upon further investigation, this file hash is known as the malware Flagpro, which has been commonly used by the advanced threat actor BlackTech.</a:t>
            </a:r>
            <a:endParaRPr dirty="0">
              <a:latin typeface="Google Sans"/>
              <a:ea typeface="Google Sans"/>
              <a:cs typeface="Google Sans"/>
              <a:sym typeface="Google Sans"/>
            </a:endParaRPr>
          </a:p>
        </p:txBody>
      </p:sp>
      <p:sp>
        <p:nvSpPr>
          <p:cNvPr id="3" name="TextBox 2">
            <a:extLst>
              <a:ext uri="{FF2B5EF4-FFF2-40B4-BE49-F238E27FC236}">
                <a16:creationId xmlns:a16="http://schemas.microsoft.com/office/drawing/2014/main" id="{2608023B-3702-CF6C-5714-BE62EFE84858}"/>
              </a:ext>
            </a:extLst>
          </p:cNvPr>
          <p:cNvSpPr txBox="1"/>
          <p:nvPr/>
        </p:nvSpPr>
        <p:spPr>
          <a:xfrm>
            <a:off x="263769" y="1348050"/>
            <a:ext cx="8616461" cy="3774688"/>
          </a:xfrm>
          <a:prstGeom prst="rect">
            <a:avLst/>
          </a:prstGeom>
          <a:noFill/>
        </p:spPr>
        <p:txBody>
          <a:bodyPr wrap="square">
            <a:spAutoFit/>
          </a:bodyPr>
          <a:lstStyle/>
          <a:p>
            <a:pPr algn="l">
              <a:lnSpc>
                <a:spcPts val="1800"/>
              </a:lnSpc>
              <a:spcBef>
                <a:spcPts val="600"/>
              </a:spcBef>
              <a:spcAft>
                <a:spcPts val="1200"/>
              </a:spcAft>
              <a:buNone/>
            </a:pPr>
            <a:r>
              <a:rPr lang="en-US" b="0" i="0" dirty="0">
                <a:solidFill>
                  <a:srgbClr val="0F1114"/>
                </a:solidFill>
                <a:effectLst/>
                <a:latin typeface="+mn-lt"/>
              </a:rPr>
              <a:t>Review the following scenario. Then complete the step-by-step instructions.</a:t>
            </a:r>
          </a:p>
          <a:p>
            <a:pPr algn="l">
              <a:lnSpc>
                <a:spcPts val="1800"/>
              </a:lnSpc>
              <a:spcBef>
                <a:spcPts val="600"/>
              </a:spcBef>
              <a:spcAft>
                <a:spcPts val="1200"/>
              </a:spcAft>
              <a:buNone/>
            </a:pPr>
            <a:r>
              <a:rPr lang="en-US" b="0" i="0" dirty="0">
                <a:solidFill>
                  <a:srgbClr val="0F1114"/>
                </a:solidFill>
                <a:effectLst/>
                <a:latin typeface="+mn-lt"/>
              </a:rPr>
              <a:t>You are a level one security operations center (SOC) analyst at a financial services company. You have received an alert about a suspicious file being downloaded on an employee's computer. </a:t>
            </a:r>
          </a:p>
          <a:p>
            <a:pPr algn="l">
              <a:lnSpc>
                <a:spcPts val="1800"/>
              </a:lnSpc>
              <a:spcBef>
                <a:spcPts val="600"/>
              </a:spcBef>
              <a:spcAft>
                <a:spcPts val="1200"/>
              </a:spcAft>
              <a:buNone/>
            </a:pPr>
            <a:r>
              <a:rPr lang="en-US" b="0" i="0" dirty="0">
                <a:solidFill>
                  <a:srgbClr val="0F1114"/>
                </a:solidFill>
                <a:effectLst/>
                <a:latin typeface="+mn-lt"/>
              </a:rPr>
              <a:t>You investigate this alert and discover that the employee received an email containing an attachment. The attachment was a password-protected spreadsheet file. The spreadsheet's password was provided in the email. The employee downloaded the file, then entered the password to open the file. When the employee opened the file, a malicious payload was then executed on their computer. </a:t>
            </a:r>
          </a:p>
          <a:p>
            <a:pPr algn="l">
              <a:lnSpc>
                <a:spcPts val="1800"/>
              </a:lnSpc>
              <a:spcBef>
                <a:spcPts val="600"/>
              </a:spcBef>
              <a:spcAft>
                <a:spcPts val="1200"/>
              </a:spcAft>
              <a:buNone/>
            </a:pPr>
            <a:r>
              <a:rPr lang="en-US" b="0" i="0" dirty="0">
                <a:solidFill>
                  <a:srgbClr val="0F1114"/>
                </a:solidFill>
                <a:effectLst/>
                <a:latin typeface="+mn-lt"/>
              </a:rPr>
              <a:t>You retrieve the malicious file and create a SHA256 hash of the file. You might recall from a previous course that a </a:t>
            </a:r>
            <a:r>
              <a:rPr lang="en-US" b="1" i="0" dirty="0">
                <a:solidFill>
                  <a:srgbClr val="0F1114"/>
                </a:solidFill>
                <a:effectLst/>
                <a:latin typeface="+mn-lt"/>
              </a:rPr>
              <a:t>hash function</a:t>
            </a:r>
            <a:r>
              <a:rPr lang="en-US" b="0" i="0" dirty="0">
                <a:solidFill>
                  <a:srgbClr val="0F1114"/>
                </a:solidFill>
                <a:effectLst/>
                <a:latin typeface="+mn-lt"/>
              </a:rPr>
              <a:t> is an algorithm that produces a code that can't be decrypted. Hashing is a cryptographic method used to uniquely identify malware, acting as the file's unique fingerprint. </a:t>
            </a:r>
          </a:p>
          <a:p>
            <a:pPr algn="l">
              <a:lnSpc>
                <a:spcPts val="1800"/>
              </a:lnSpc>
              <a:spcBef>
                <a:spcPts val="600"/>
              </a:spcBef>
              <a:spcAft>
                <a:spcPts val="1200"/>
              </a:spcAft>
              <a:buNone/>
            </a:pPr>
            <a:r>
              <a:rPr lang="en-US" b="0" i="0" dirty="0">
                <a:solidFill>
                  <a:srgbClr val="0F1114"/>
                </a:solidFill>
                <a:effectLst/>
                <a:latin typeface="+mn-lt"/>
              </a:rPr>
              <a:t>Now that you have the file hash, you will use </a:t>
            </a:r>
            <a:r>
              <a:rPr lang="en-US" b="0" i="0" dirty="0" err="1">
                <a:solidFill>
                  <a:srgbClr val="0F1114"/>
                </a:solidFill>
                <a:effectLst/>
                <a:latin typeface="+mn-lt"/>
              </a:rPr>
              <a:t>VirusTotal</a:t>
            </a:r>
            <a:r>
              <a:rPr lang="en-US" b="0" i="0" dirty="0">
                <a:solidFill>
                  <a:srgbClr val="0F1114"/>
                </a:solidFill>
                <a:effectLst/>
                <a:latin typeface="+mn-lt"/>
              </a:rPr>
              <a:t> to uncover additional </a:t>
            </a:r>
            <a:r>
              <a:rPr lang="en-US" b="0" i="0" dirty="0" err="1">
                <a:solidFill>
                  <a:srgbClr val="0F1114"/>
                </a:solidFill>
                <a:effectLst/>
                <a:latin typeface="+mn-lt"/>
              </a:rPr>
              <a:t>IoCs</a:t>
            </a:r>
            <a:r>
              <a:rPr lang="en-US" b="0" i="0" dirty="0">
                <a:solidFill>
                  <a:srgbClr val="0F1114"/>
                </a:solidFill>
                <a:effectLst/>
                <a:latin typeface="+mn-lt"/>
              </a:rPr>
              <a:t> that are associated with the file.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grpSp>
        <p:nvGrpSpPr>
          <p:cNvPr id="60" name="Google Shape;60;p14"/>
          <p:cNvGrpSpPr/>
          <p:nvPr/>
        </p:nvGrpSpPr>
        <p:grpSpPr>
          <a:xfrm>
            <a:off x="52400" y="399200"/>
            <a:ext cx="5417400" cy="4685400"/>
            <a:chOff x="52400" y="399200"/>
            <a:chExt cx="5417400" cy="4685400"/>
          </a:xfrm>
        </p:grpSpPr>
        <p:sp>
          <p:nvSpPr>
            <p:cNvPr id="61" name="Google Shape;61;p14"/>
            <p:cNvSpPr/>
            <p:nvPr/>
          </p:nvSpPr>
          <p:spPr>
            <a:xfrm>
              <a:off x="52400" y="399200"/>
              <a:ext cx="5417400" cy="4685400"/>
            </a:xfrm>
            <a:prstGeom prst="triangle">
              <a:avLst>
                <a:gd name="adj" fmla="val 50000"/>
              </a:avLst>
            </a:prstGeom>
            <a:solidFill>
              <a:schemeClr val="accent1"/>
            </a:solid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2" name="Google Shape;62;p14"/>
            <p:cNvCxnSpPr/>
            <p:nvPr/>
          </p:nvCxnSpPr>
          <p:spPr>
            <a:xfrm>
              <a:off x="2174888" y="1426450"/>
              <a:ext cx="1162500" cy="0"/>
            </a:xfrm>
            <a:prstGeom prst="straightConnector1">
              <a:avLst/>
            </a:prstGeom>
            <a:noFill/>
            <a:ln w="28575" cap="flat" cmpd="sng">
              <a:solidFill>
                <a:srgbClr val="FFFFFF"/>
              </a:solidFill>
              <a:prstDash val="solid"/>
              <a:round/>
              <a:headEnd type="none" w="med" len="med"/>
              <a:tailEnd type="none" w="med" len="med"/>
            </a:ln>
          </p:spPr>
        </p:cxnSp>
        <p:cxnSp>
          <p:nvCxnSpPr>
            <p:cNvPr id="63" name="Google Shape;63;p14"/>
            <p:cNvCxnSpPr/>
            <p:nvPr/>
          </p:nvCxnSpPr>
          <p:spPr>
            <a:xfrm>
              <a:off x="1714500" y="2214625"/>
              <a:ext cx="2094000" cy="0"/>
            </a:xfrm>
            <a:prstGeom prst="straightConnector1">
              <a:avLst/>
            </a:prstGeom>
            <a:noFill/>
            <a:ln w="28575" cap="flat" cmpd="sng">
              <a:solidFill>
                <a:srgbClr val="FFFFFF"/>
              </a:solidFill>
              <a:prstDash val="solid"/>
              <a:round/>
              <a:headEnd type="none" w="med" len="med"/>
              <a:tailEnd type="none" w="med" len="med"/>
            </a:ln>
          </p:spPr>
        </p:cxnSp>
        <p:cxnSp>
          <p:nvCxnSpPr>
            <p:cNvPr id="64" name="Google Shape;64;p14"/>
            <p:cNvCxnSpPr/>
            <p:nvPr/>
          </p:nvCxnSpPr>
          <p:spPr>
            <a:xfrm>
              <a:off x="1269525" y="2976625"/>
              <a:ext cx="2970900" cy="0"/>
            </a:xfrm>
            <a:prstGeom prst="straightConnector1">
              <a:avLst/>
            </a:prstGeom>
            <a:noFill/>
            <a:ln w="28575" cap="flat" cmpd="sng">
              <a:solidFill>
                <a:srgbClr val="FFFFFF"/>
              </a:solidFill>
              <a:prstDash val="solid"/>
              <a:round/>
              <a:headEnd type="none" w="med" len="med"/>
              <a:tailEnd type="none" w="med" len="med"/>
            </a:ln>
          </p:spPr>
        </p:cxnSp>
        <p:cxnSp>
          <p:nvCxnSpPr>
            <p:cNvPr id="65" name="Google Shape;65;p14"/>
            <p:cNvCxnSpPr/>
            <p:nvPr/>
          </p:nvCxnSpPr>
          <p:spPr>
            <a:xfrm>
              <a:off x="903063" y="3665615"/>
              <a:ext cx="3729900" cy="0"/>
            </a:xfrm>
            <a:prstGeom prst="straightConnector1">
              <a:avLst/>
            </a:prstGeom>
            <a:noFill/>
            <a:ln w="28575" cap="flat" cmpd="sng">
              <a:solidFill>
                <a:srgbClr val="FFFFFF"/>
              </a:solidFill>
              <a:prstDash val="solid"/>
              <a:round/>
              <a:headEnd type="none" w="med" len="med"/>
              <a:tailEnd type="none" w="med" len="med"/>
            </a:ln>
          </p:spPr>
        </p:cxnSp>
        <p:cxnSp>
          <p:nvCxnSpPr>
            <p:cNvPr id="66" name="Google Shape;66;p14"/>
            <p:cNvCxnSpPr/>
            <p:nvPr/>
          </p:nvCxnSpPr>
          <p:spPr>
            <a:xfrm>
              <a:off x="484250" y="4351425"/>
              <a:ext cx="4541700" cy="0"/>
            </a:xfrm>
            <a:prstGeom prst="straightConnector1">
              <a:avLst/>
            </a:prstGeom>
            <a:noFill/>
            <a:ln w="28575" cap="flat" cmpd="sng">
              <a:solidFill>
                <a:srgbClr val="FFFFFF"/>
              </a:solidFill>
              <a:prstDash val="solid"/>
              <a:round/>
              <a:headEnd type="none" w="med" len="med"/>
              <a:tailEnd type="none" w="med" len="med"/>
            </a:ln>
          </p:spPr>
        </p:cxnSp>
      </p:grpSp>
      <p:sp>
        <p:nvSpPr>
          <p:cNvPr id="67" name="Google Shape;67;p14"/>
          <p:cNvSpPr txBox="1"/>
          <p:nvPr/>
        </p:nvSpPr>
        <p:spPr>
          <a:xfrm>
            <a:off x="2424313" y="863775"/>
            <a:ext cx="8055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lt1"/>
                </a:solidFill>
                <a:latin typeface="Google Sans"/>
                <a:ea typeface="Google Sans"/>
                <a:cs typeface="Google Sans"/>
                <a:sym typeface="Google Sans"/>
              </a:rPr>
              <a:t>TTPs</a:t>
            </a:r>
            <a:endParaRPr sz="1700" b="1">
              <a:solidFill>
                <a:schemeClr val="lt1"/>
              </a:solidFill>
              <a:latin typeface="Google Sans"/>
              <a:ea typeface="Google Sans"/>
              <a:cs typeface="Google Sans"/>
              <a:sym typeface="Google Sans"/>
            </a:endParaRPr>
          </a:p>
        </p:txBody>
      </p:sp>
      <p:sp>
        <p:nvSpPr>
          <p:cNvPr id="68" name="Google Shape;68;p14"/>
          <p:cNvSpPr txBox="1"/>
          <p:nvPr/>
        </p:nvSpPr>
        <p:spPr>
          <a:xfrm>
            <a:off x="2411226" y="1578950"/>
            <a:ext cx="8055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lt1"/>
                </a:solidFill>
                <a:latin typeface="Google Sans"/>
                <a:ea typeface="Google Sans"/>
                <a:cs typeface="Google Sans"/>
                <a:sym typeface="Google Sans"/>
              </a:rPr>
              <a:t>Tools</a:t>
            </a:r>
            <a:endParaRPr sz="1700" b="1">
              <a:solidFill>
                <a:schemeClr val="lt1"/>
              </a:solidFill>
              <a:latin typeface="Google Sans"/>
              <a:ea typeface="Google Sans"/>
              <a:cs typeface="Google Sans"/>
              <a:sym typeface="Google Sans"/>
            </a:endParaRPr>
          </a:p>
        </p:txBody>
      </p:sp>
      <p:sp>
        <p:nvSpPr>
          <p:cNvPr id="69" name="Google Shape;69;p14"/>
          <p:cNvSpPr txBox="1"/>
          <p:nvPr/>
        </p:nvSpPr>
        <p:spPr>
          <a:xfrm>
            <a:off x="1792100" y="2294125"/>
            <a:ext cx="1991400" cy="708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chemeClr val="lt1"/>
                </a:solidFill>
                <a:latin typeface="Google Sans"/>
                <a:ea typeface="Google Sans"/>
                <a:cs typeface="Google Sans"/>
                <a:sym typeface="Google Sans"/>
              </a:rPr>
              <a:t>Network/host artifacts</a:t>
            </a:r>
            <a:endParaRPr sz="1700" b="1">
              <a:solidFill>
                <a:schemeClr val="lt1"/>
              </a:solidFill>
              <a:latin typeface="Google Sans"/>
              <a:ea typeface="Google Sans"/>
              <a:cs typeface="Google Sans"/>
              <a:sym typeface="Google Sans"/>
            </a:endParaRPr>
          </a:p>
        </p:txBody>
      </p:sp>
      <p:sp>
        <p:nvSpPr>
          <p:cNvPr id="70" name="Google Shape;70;p14"/>
          <p:cNvSpPr txBox="1"/>
          <p:nvPr/>
        </p:nvSpPr>
        <p:spPr>
          <a:xfrm>
            <a:off x="1978962" y="3118675"/>
            <a:ext cx="20487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lt1"/>
                </a:solidFill>
                <a:latin typeface="Google Sans"/>
                <a:ea typeface="Google Sans"/>
                <a:cs typeface="Google Sans"/>
                <a:sym typeface="Google Sans"/>
              </a:rPr>
              <a:t>Domain names</a:t>
            </a:r>
            <a:endParaRPr sz="1700" b="1">
              <a:solidFill>
                <a:schemeClr val="lt1"/>
              </a:solidFill>
              <a:latin typeface="Google Sans"/>
              <a:ea typeface="Google Sans"/>
              <a:cs typeface="Google Sans"/>
              <a:sym typeface="Google Sans"/>
            </a:endParaRPr>
          </a:p>
        </p:txBody>
      </p:sp>
      <p:sp>
        <p:nvSpPr>
          <p:cNvPr id="71" name="Google Shape;71;p14"/>
          <p:cNvSpPr txBox="1"/>
          <p:nvPr/>
        </p:nvSpPr>
        <p:spPr>
          <a:xfrm>
            <a:off x="1978962" y="3755325"/>
            <a:ext cx="20487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lt1"/>
                </a:solidFill>
                <a:latin typeface="Google Sans"/>
                <a:ea typeface="Google Sans"/>
                <a:cs typeface="Google Sans"/>
                <a:sym typeface="Google Sans"/>
              </a:rPr>
              <a:t>IP addresses</a:t>
            </a:r>
            <a:endParaRPr sz="1700" b="1">
              <a:solidFill>
                <a:schemeClr val="lt1"/>
              </a:solidFill>
              <a:latin typeface="Google Sans"/>
              <a:ea typeface="Google Sans"/>
              <a:cs typeface="Google Sans"/>
              <a:sym typeface="Google Sans"/>
            </a:endParaRPr>
          </a:p>
        </p:txBody>
      </p:sp>
      <p:sp>
        <p:nvSpPr>
          <p:cNvPr id="72" name="Google Shape;72;p14"/>
          <p:cNvSpPr txBox="1"/>
          <p:nvPr/>
        </p:nvSpPr>
        <p:spPr>
          <a:xfrm>
            <a:off x="1978962" y="4457425"/>
            <a:ext cx="20487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lt1"/>
                </a:solidFill>
                <a:latin typeface="Google Sans"/>
                <a:ea typeface="Google Sans"/>
                <a:cs typeface="Google Sans"/>
                <a:sym typeface="Google Sans"/>
              </a:rPr>
              <a:t>Hash values</a:t>
            </a:r>
            <a:endParaRPr sz="1700" b="1">
              <a:solidFill>
                <a:schemeClr val="lt1"/>
              </a:solidFill>
              <a:latin typeface="Google Sans"/>
              <a:ea typeface="Google Sans"/>
              <a:cs typeface="Google Sans"/>
              <a:sym typeface="Google Sans"/>
            </a:endParaRPr>
          </a:p>
        </p:txBody>
      </p:sp>
      <p:cxnSp>
        <p:nvCxnSpPr>
          <p:cNvPr id="73" name="Google Shape;73;p14"/>
          <p:cNvCxnSpPr/>
          <p:nvPr/>
        </p:nvCxnSpPr>
        <p:spPr>
          <a:xfrm>
            <a:off x="3153750" y="1086374"/>
            <a:ext cx="1694700" cy="6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74" name="Google Shape;74;p14"/>
          <p:cNvSpPr/>
          <p:nvPr/>
        </p:nvSpPr>
        <p:spPr>
          <a:xfrm>
            <a:off x="4848450" y="824324"/>
            <a:ext cx="2020500" cy="5253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1"/>
                </a:solidFill>
                <a:latin typeface="Google Sans"/>
                <a:ea typeface="Google Sans"/>
                <a:cs typeface="Google Sans"/>
                <a:sym typeface="Google Sans"/>
              </a:rPr>
              <a:t>Command and Control</a:t>
            </a:r>
            <a:endParaRPr sz="1100">
              <a:solidFill>
                <a:schemeClr val="dk1"/>
              </a:solidFill>
              <a:latin typeface="Google Sans"/>
              <a:ea typeface="Google Sans"/>
              <a:cs typeface="Google Sans"/>
              <a:sym typeface="Google Sans"/>
            </a:endParaRPr>
          </a:p>
        </p:txBody>
      </p:sp>
      <p:cxnSp>
        <p:nvCxnSpPr>
          <p:cNvPr id="75" name="Google Shape;75;p14"/>
          <p:cNvCxnSpPr>
            <a:endCxn id="76" idx="1"/>
          </p:cNvCxnSpPr>
          <p:nvPr/>
        </p:nvCxnSpPr>
        <p:spPr>
          <a:xfrm>
            <a:off x="3578825" y="1801549"/>
            <a:ext cx="1694700" cy="6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76" name="Google Shape;76;p14"/>
          <p:cNvSpPr/>
          <p:nvPr/>
        </p:nvSpPr>
        <p:spPr>
          <a:xfrm>
            <a:off x="5273525" y="1539499"/>
            <a:ext cx="2020500" cy="5253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1"/>
                </a:solidFill>
                <a:latin typeface="Google Sans"/>
                <a:ea typeface="Google Sans"/>
                <a:cs typeface="Google Sans"/>
                <a:sym typeface="Google Sans"/>
              </a:rPr>
              <a:t>Input capture</a:t>
            </a:r>
            <a:endParaRPr sz="1100">
              <a:solidFill>
                <a:schemeClr val="dk1"/>
              </a:solidFill>
              <a:latin typeface="Roboto"/>
              <a:ea typeface="Roboto"/>
              <a:cs typeface="Roboto"/>
              <a:sym typeface="Roboto"/>
            </a:endParaRPr>
          </a:p>
        </p:txBody>
      </p:sp>
      <p:cxnSp>
        <p:nvCxnSpPr>
          <p:cNvPr id="77" name="Google Shape;77;p14"/>
          <p:cNvCxnSpPr>
            <a:endCxn id="78" idx="1"/>
          </p:cNvCxnSpPr>
          <p:nvPr/>
        </p:nvCxnSpPr>
        <p:spPr>
          <a:xfrm>
            <a:off x="3986625" y="2571149"/>
            <a:ext cx="1694700" cy="6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78" name="Google Shape;78;p14"/>
          <p:cNvSpPr/>
          <p:nvPr/>
        </p:nvSpPr>
        <p:spPr>
          <a:xfrm>
            <a:off x="5681325" y="2309099"/>
            <a:ext cx="2020500" cy="5253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1"/>
                </a:solidFill>
                <a:latin typeface="Google Sans"/>
                <a:ea typeface="Google Sans"/>
                <a:cs typeface="Google Sans"/>
                <a:sym typeface="Google Sans"/>
              </a:rPr>
              <a:t>HTTP Requests</a:t>
            </a:r>
            <a:endParaRPr sz="1100">
              <a:solidFill>
                <a:schemeClr val="dk1"/>
              </a:solidFill>
              <a:latin typeface="Roboto"/>
              <a:ea typeface="Roboto"/>
              <a:cs typeface="Roboto"/>
              <a:sym typeface="Roboto"/>
            </a:endParaRPr>
          </a:p>
        </p:txBody>
      </p:sp>
      <p:cxnSp>
        <p:nvCxnSpPr>
          <p:cNvPr id="79" name="Google Shape;79;p14"/>
          <p:cNvCxnSpPr>
            <a:endCxn id="80" idx="1"/>
          </p:cNvCxnSpPr>
          <p:nvPr/>
        </p:nvCxnSpPr>
        <p:spPr>
          <a:xfrm>
            <a:off x="4426175" y="3274536"/>
            <a:ext cx="1694700" cy="6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80" name="Google Shape;80;p14"/>
          <p:cNvSpPr/>
          <p:nvPr/>
        </p:nvSpPr>
        <p:spPr>
          <a:xfrm>
            <a:off x="6120875" y="3012486"/>
            <a:ext cx="2020500" cy="5253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1"/>
                </a:solidFill>
                <a:latin typeface="Google Sans"/>
                <a:ea typeface="Google Sans"/>
                <a:cs typeface="Google Sans"/>
                <a:sym typeface="Google Sans"/>
              </a:rPr>
              <a:t>org.misecure.com</a:t>
            </a:r>
            <a:endParaRPr sz="1100">
              <a:solidFill>
                <a:schemeClr val="dk1"/>
              </a:solidFill>
              <a:latin typeface="Google Sans"/>
              <a:ea typeface="Google Sans"/>
              <a:cs typeface="Google Sans"/>
              <a:sym typeface="Google Sans"/>
            </a:endParaRPr>
          </a:p>
        </p:txBody>
      </p:sp>
      <p:cxnSp>
        <p:nvCxnSpPr>
          <p:cNvPr id="81" name="Google Shape;81;p14"/>
          <p:cNvCxnSpPr>
            <a:endCxn id="82" idx="1"/>
          </p:cNvCxnSpPr>
          <p:nvPr/>
        </p:nvCxnSpPr>
        <p:spPr>
          <a:xfrm>
            <a:off x="4835525" y="3977924"/>
            <a:ext cx="1694700" cy="6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82" name="Google Shape;82;p14"/>
          <p:cNvSpPr/>
          <p:nvPr/>
        </p:nvSpPr>
        <p:spPr>
          <a:xfrm>
            <a:off x="6530225" y="3715874"/>
            <a:ext cx="2020500" cy="5253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457200" lvl="0" indent="0" algn="l" rtl="0">
              <a:spcBef>
                <a:spcPts val="0"/>
              </a:spcBef>
              <a:spcAft>
                <a:spcPts val="0"/>
              </a:spcAft>
              <a:buNone/>
            </a:pPr>
            <a:r>
              <a:rPr lang="en" sz="1100">
                <a:solidFill>
                  <a:schemeClr val="dk1"/>
                </a:solidFill>
                <a:latin typeface="Google Sans"/>
                <a:ea typeface="Google Sans"/>
                <a:cs typeface="Google Sans"/>
                <a:sym typeface="Google Sans"/>
              </a:rPr>
              <a:t>207.148.109.242</a:t>
            </a:r>
            <a:endParaRPr sz="1100">
              <a:solidFill>
                <a:schemeClr val="dk1"/>
              </a:solidFill>
              <a:latin typeface="Google Sans"/>
              <a:ea typeface="Google Sans"/>
              <a:cs typeface="Google Sans"/>
              <a:sym typeface="Google Sans"/>
            </a:endParaRPr>
          </a:p>
        </p:txBody>
      </p:sp>
      <p:cxnSp>
        <p:nvCxnSpPr>
          <p:cNvPr id="83" name="Google Shape;83;p14"/>
          <p:cNvCxnSpPr/>
          <p:nvPr/>
        </p:nvCxnSpPr>
        <p:spPr>
          <a:xfrm>
            <a:off x="5211175" y="4680024"/>
            <a:ext cx="1605300" cy="6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84" name="Google Shape;84;p14"/>
          <p:cNvSpPr/>
          <p:nvPr/>
        </p:nvSpPr>
        <p:spPr>
          <a:xfrm>
            <a:off x="6816475" y="4417974"/>
            <a:ext cx="2020500" cy="5253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1"/>
                </a:solidFill>
                <a:latin typeface="Google Sans"/>
                <a:ea typeface="Google Sans"/>
                <a:cs typeface="Google Sans"/>
                <a:sym typeface="Google Sans"/>
              </a:rPr>
              <a:t>287d612e29b71c90aa54947313810a25</a:t>
            </a:r>
            <a:endParaRPr sz="1100">
              <a:solidFill>
                <a:schemeClr val="dk1"/>
              </a:solidFill>
              <a:latin typeface="Google Sans"/>
              <a:ea typeface="Google Sans"/>
              <a:cs typeface="Google Sans"/>
              <a:sym typeface="Google Sans"/>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268</Words>
  <Application>Microsoft Office PowerPoint</Application>
  <PresentationFormat>On-screen Show (16:9)</PresentationFormat>
  <Paragraphs>19</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Google Sans</vt:lpstr>
      <vt:lpstr>Roboto</vt:lpstr>
      <vt:lpstr>Arial</vt:lpstr>
      <vt:lpstr>Simple Light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Shlok Patel</cp:lastModifiedBy>
  <cp:revision>1</cp:revision>
  <dcterms:modified xsi:type="dcterms:W3CDTF">2026-04-07T18:49:32Z</dcterms:modified>
</cp:coreProperties>
</file>